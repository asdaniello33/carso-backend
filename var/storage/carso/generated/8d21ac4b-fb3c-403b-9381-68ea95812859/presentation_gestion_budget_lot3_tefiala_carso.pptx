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463040" cy="640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Gestion et répartition du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977639"/>
            <a:ext cx="9326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Lot 3 – TEFIALA 2 (RFP/2026/ULA/097) · Région Haute Matsiatra, Paysage Volanony-Matsiatra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5806440"/>
            <a:ext cx="10817352" cy="9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925312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Réunion interne équipe CARSO · Ariary (MGA) · Mission de 10 mois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Le budget en un coup d'œil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94 800 000 Ar pour incuber 45 entrepreneurs verts dans 4 communes.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087368"/>
            <a:ext cx="2595295" cy="102412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4087368"/>
            <a:ext cx="2595295" cy="320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4270248"/>
            <a:ext cx="2375839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4532D"/>
                </a:solidFill>
                <a:latin typeface="Calibri"/>
              </a:rPr>
              <a:t>94,8 M</a:t>
            </a:r>
          </a:p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AR – BUDGET TOTAL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7399" y="4087368"/>
            <a:ext cx="2595295" cy="102412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7399" y="4087368"/>
            <a:ext cx="2595295" cy="320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7127" y="4270248"/>
            <a:ext cx="2375839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4532D"/>
                </a:solidFill>
                <a:latin typeface="Calibri"/>
              </a:rPr>
              <a:t>45</a:t>
            </a:r>
          </a:p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INCUBÉS (20 OP CIBLES)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8999" y="4087368"/>
            <a:ext cx="2595295" cy="102412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8999" y="4087368"/>
            <a:ext cx="2595295" cy="320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8727" y="4270248"/>
            <a:ext cx="2375839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4532D"/>
                </a:solidFill>
                <a:latin typeface="Calibri"/>
              </a:rPr>
              <a:t>~2,1 M</a:t>
            </a:r>
          </a:p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AR PAR INCUBÉ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0599" y="4087368"/>
            <a:ext cx="2595295" cy="102412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10599" y="4087368"/>
            <a:ext cx="2595295" cy="320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20327" y="4270248"/>
            <a:ext cx="2375839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4532D"/>
                </a:solidFill>
                <a:latin typeface="Calibri"/>
              </a:rPr>
              <a:t>125</a:t>
            </a:r>
          </a:p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JOURS-HOMME ÉQUIPE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Gestion et répartition du budget – Lot 3 TEFIALA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Répartition par catégorie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ure 1 – Répartition du budget de 94 800 000 Ar par catégorie (modèle FAO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855" y="1938528"/>
            <a:ext cx="6729983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199631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Figure 1 – Répartition du budget de 94 800 000 Ar par catégorie (modèle FAO)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Gestion et répartition du budget – Lot 3 TEFIALA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Les 6 catégories du modèle FAO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4270248"/>
          <a:ext cx="10820092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023"/>
                <a:gridCol w="2705023"/>
                <a:gridCol w="2705023"/>
                <a:gridCol w="2705023"/>
              </a:tblGrid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Catégorie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Contenu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Montant (Ar)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1. Ressources humaines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Chef de mission (50 j), 2 formateurs (20 j chacun), assistant admin/logistique (35 j)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32 750 000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35 %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2. Équipement et fournitures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Fournitures de formation, matériel pédagogique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4 800 000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5 %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3. Voyages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4x4 + chauffeur (60 j), carburant et entretien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22 500 000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24 %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Gestion et répartition du budget – Lot 3 TEFIALA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Les 6 catégories du modèle FAO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184648"/>
            <a:ext cx="10820095" cy="9601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184648"/>
            <a:ext cx="50292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276088"/>
            <a:ext cx="10545775" cy="813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Total général : 94 800 000 Ar (100 %). Toute dépense hors catégorie = demande préalable au chef de mission.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4270248"/>
          <a:ext cx="10820092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023"/>
                <a:gridCol w="2705023"/>
                <a:gridCol w="2705023"/>
                <a:gridCol w="2705023"/>
              </a:tblGrid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Catégorie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Contenu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Montant (Ar)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4. Hébergement et restauration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Équipe (75 nuitées, 75 j-p) + incubés (675 j-p)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21 750 000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23 %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5. Frais généraux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Communication, consommables de bureau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7 000 000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7 %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6. Autre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Mentoring et suivi post-incubation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6 000 000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6 %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Gestion et répartition du budget – Lot 3 TEFIALA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Ressources humaines : 32 750 000 Ar (35 %)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184648"/>
            <a:ext cx="10820095" cy="96012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184648"/>
            <a:ext cx="50292" cy="960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276088"/>
            <a:ext cx="10545775" cy="813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Point de vigilance : les taux journaliers sont des propositions CARSO, ajustables en négociation FAO. Les jours-homme (125 HJ) sont fixés par les TDR : ils ne bougent pas.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4270248"/>
          <a:ext cx="1082009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023"/>
                <a:gridCol w="2705023"/>
                <a:gridCol w="2705023"/>
                <a:gridCol w="2705023"/>
              </a:tblGrid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Rôle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Jours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Taux (Ar/j)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Montant (Ar)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Chef de mission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350 000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17 500 000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Formateur 1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250 000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5 000 000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Formateur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250 000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5 000 000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Assistant administratif et logistique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150 000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5 250 000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Gestion et répartition du budget – Lot 3 TEFIALA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Logistique terrain : 44 250 000 Ar (47 %)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4270248"/>
          <a:ext cx="10820092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023"/>
                <a:gridCol w="2705023"/>
                <a:gridCol w="2705023"/>
                <a:gridCol w="2705023"/>
              </a:tblGrid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Ligne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Quantité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Coût unitaire (Ar)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Montant (Ar)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Véhicule 4x4 avec chauffeur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60 jours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250 000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15 000 000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Carburant et entretien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forfait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7 500 000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Hébergement équipe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75 nuitées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50 000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3 750 000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Restauration équipe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75 j-p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60 000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4 500 000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Restauration incubés (bootcamps)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675 j-p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20 000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13 500 000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Gestion et répartition du budget – Lot 3 TEFIALA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Qui dépense quoi : règles de gestion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38528"/>
            <a:ext cx="10820095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Chef de mission : valide toute dépense, tient le suivi budgétaire, prépare les rapports financiers FAO.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Assistant admin/logistique : engage les dépenses de voyage, hébergement, restauration et fournitures ; conserve les justificatifs.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Formateurs : consomment les fournitures pédagogiques ; aucune dépense logistique directe.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Règle FAO : lignes unité × quantité × coût unitaire — pas de forfait par activité, chaque dépense est traçable.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Justificatifs obligatoires pour chaque ligne : le contrat est un protocole d'accord à coûts remboursables.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Gestion et répartition du budget – Lot 3 TEFIALA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Tranches de paiement : 30 / 20 / 30 / 20 %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ure 2 – Montant de chaque tranche, conditionné aux rapports FA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855" y="1938528"/>
            <a:ext cx="6729983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199631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Figure 2 – Montant de chaque tranche, conditionné aux rapports FAO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Gestion et répartition du budget – Lot 3 TEFIALA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Calendrier budgétaire : quand l'argent sort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184648"/>
            <a:ext cx="10820095" cy="9601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184648"/>
            <a:ext cx="50292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276088"/>
            <a:ext cx="10545775" cy="813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À retenir : 70 % des dépenses terrain se concentrent sur M2–M6. La trésorerie doit couvrir cette période avant les tranches 2 et 3.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4270248"/>
          <a:ext cx="10820094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698"/>
                <a:gridCol w="3606698"/>
                <a:gridCol w="3606698"/>
              </a:tblGrid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Période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Activité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Postes de dépense majeurs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Démarrage, ciblage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RH, premiers déplacements, rapport initial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M2–M6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5 bootcamps de 3 jours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Pic : restauration incubés, hébergement, véhicule, fournitures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M7–M8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Coaching final (2 j)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Déplacements, RH formateurs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M8–M10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Suivi post-incubation + mentoring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Déplacements sur site, mentoring (catégorie 6)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Gestion et répartition du budget – Lot 3 TEFIALA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Suivi et reporting budgétaire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38528"/>
            <a:ext cx="10820095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4 rapports FAO conditionnent les paiements : initial (M1), étape (fin M1), étape (M7), final (M10).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Suivi mensuel interne : dépenses réelles vs budget par catégorie, tenu par le chef de mission.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Alerte si une catégorie dépasse 90 % de son enveloppe avant la fin de la période correspondante.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Réaffectation entre catégories : uniquement avec accord FAO, jamais en interne.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Clôture : rapport final avec justification complète des coûts remboursés.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Gestion et répartition du budget – Lot 3 TEFIALA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Points à finaliser avant envoi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38528"/>
            <a:ext cx="10820095" cy="3136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Tarif restauration incubés (20 000 Ar/j-p) : à confirmer avec la FAO .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Régime fiscal applicable : à compléter .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Validité de l'offre : à compléter .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Taux journaliers : propositions CARSO, ajustables en négociation.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5184648"/>
            <a:ext cx="10820095" cy="960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184648"/>
            <a:ext cx="50292" cy="9601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276088"/>
            <a:ext cx="10545775" cy="813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Rappel : le budget reste une proposition tant que la FAO ne l'a pas validé — aucun engagement de dépense avant signature du protocole d'accord.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Gestion et répartition du budget – Lot 3 TEFIALA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et répartition du budget – Lot 3 TEFIALA 2</dc:title>
  <dc:subject/>
  <dc:creator>Daniello Solofoniaina – CARSO</dc:creator>
  <cp:keywords/>
  <dc:description>generated using python-pptx</dc:description>
  <cp:lastModifiedBy>Daniello Solofoniaina – CARSO</cp:lastModifiedBy>
  <cp:revision>1</cp:revision>
  <dcterms:created xsi:type="dcterms:W3CDTF">2013-01-27T09:14:16Z</dcterms:created>
  <dcterms:modified xsi:type="dcterms:W3CDTF">2013-01-27T09:15:58Z</dcterms:modified>
  <cp:category/>
</cp:coreProperties>
</file>